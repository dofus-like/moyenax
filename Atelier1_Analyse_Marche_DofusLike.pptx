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7878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228600" y="256032"/>
            <a:ext cx="1371600" cy="274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2860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ATELIER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de Marché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228600" y="190195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sur Navigateur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" y="2487168"/>
            <a:ext cx="5029200" cy="36576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28600" y="26334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Stratégie au tour par tour  •  Browser-based  •  PvP compétitif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3017520"/>
            <a:ext cx="187452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28600" y="3017520"/>
            <a:ext cx="45720" cy="7772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phases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· Économie · Combat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40280" y="3017520"/>
            <a:ext cx="187452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40280" y="3017520"/>
            <a:ext cx="4572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37744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équipes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337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full-stack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51960" y="3017520"/>
            <a:ext cx="187452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251960" y="3017520"/>
            <a:ext cx="45720" cy="777240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389120" y="3063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cible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33375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 Tactique Browser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2860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SupDeVinci Bordeaux  •  B2 2025–2026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6446520" y="91440"/>
            <a:ext cx="1005840" cy="1005840"/>
          </a:xfrm>
          <a:prstGeom prst="rect">
            <a:avLst/>
          </a:prstGeom>
          <a:solidFill>
            <a:srgbClr val="E94560">
              <a:alpha val="6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7543800" y="91440"/>
            <a:ext cx="1005840" cy="1005840"/>
          </a:xfrm>
          <a:prstGeom prst="rect">
            <a:avLst/>
          </a:prstGeom>
          <a:solidFill>
            <a:srgbClr val="F0A500">
              <a:alpha val="3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8641080" y="91440"/>
            <a:ext cx="1005840" cy="1005840"/>
          </a:xfrm>
          <a:prstGeom prst="rect">
            <a:avLst/>
          </a:prstGeom>
          <a:solidFill>
            <a:srgbClr val="1E3A5F">
              <a:alpha val="3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6446520" y="1234440"/>
            <a:ext cx="1005840" cy="1005840"/>
          </a:xfrm>
          <a:prstGeom prst="rect">
            <a:avLst/>
          </a:prstGeom>
          <a:solidFill>
            <a:srgbClr val="263A4F">
              <a:alpha val="6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7543800" y="1234440"/>
            <a:ext cx="1005840" cy="1005840"/>
          </a:xfrm>
          <a:prstGeom prst="rect">
            <a:avLst/>
          </a:prstGeom>
          <a:solidFill>
            <a:srgbClr val="1E3A5F">
              <a:alpha val="3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8641080" y="1234440"/>
            <a:ext cx="1005840" cy="1005840"/>
          </a:xfrm>
          <a:prstGeom prst="rect">
            <a:avLst/>
          </a:prstGeom>
          <a:solidFill>
            <a:srgbClr val="1C2730">
              <a:alpha val="3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6446520" y="2377440"/>
            <a:ext cx="1005840" cy="1005840"/>
          </a:xfrm>
          <a:prstGeom prst="rect">
            <a:avLst/>
          </a:prstGeom>
          <a:solidFill>
            <a:srgbClr val="E94560">
              <a:alpha val="6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8"/>
          <p:cNvSpPr/>
          <p:nvPr/>
        </p:nvSpPr>
        <p:spPr>
          <a:xfrm>
            <a:off x="7543800" y="2377440"/>
            <a:ext cx="1005840" cy="1005840"/>
          </a:xfrm>
          <a:prstGeom prst="rect">
            <a:avLst/>
          </a:prstGeom>
          <a:solidFill>
            <a:srgbClr val="F0A500">
              <a:alpha val="3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Shape 29"/>
          <p:cNvSpPr/>
          <p:nvPr/>
        </p:nvSpPr>
        <p:spPr>
          <a:xfrm>
            <a:off x="8641080" y="2377440"/>
            <a:ext cx="1005840" cy="1005840"/>
          </a:xfrm>
          <a:prstGeom prst="rect">
            <a:avLst/>
          </a:prstGeom>
          <a:solidFill>
            <a:srgbClr val="1E3A5F">
              <a:alpha val="3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400800" y="0"/>
            <a:ext cx="27432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E94560"/>
                </a:solidFill>
              </a:rPr>
              <a:t>⚔️</a:t>
            </a:r>
            <a:endParaRPr lang="en-US" sz="8000" dirty="0"/>
          </a:p>
        </p:txBody>
      </p:sp>
      <p:sp>
        <p:nvSpPr>
          <p:cNvPr id="33" name="Shape 31"/>
          <p:cNvSpPr/>
          <p:nvPr/>
        </p:nvSpPr>
        <p:spPr>
          <a:xfrm>
            <a:off x="6400800" y="3611880"/>
            <a:ext cx="2743200" cy="1531620"/>
          </a:xfrm>
          <a:prstGeom prst="rect">
            <a:avLst/>
          </a:prstGeom>
          <a:solidFill>
            <a:srgbClr val="0D1117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6492240" y="3703320"/>
            <a:ext cx="777240" cy="320040"/>
          </a:xfrm>
          <a:prstGeom prst="rect">
            <a:avLst/>
          </a:prstGeom>
          <a:solidFill>
            <a:srgbClr val="1C27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6492240" y="3703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360920" y="3703320"/>
            <a:ext cx="777240" cy="320040"/>
          </a:xfrm>
          <a:prstGeom prst="rect">
            <a:avLst/>
          </a:prstGeom>
          <a:solidFill>
            <a:srgbClr val="1C27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7360920" y="3703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 3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229600" y="3703320"/>
            <a:ext cx="777240" cy="320040"/>
          </a:xfrm>
          <a:prstGeom prst="rect">
            <a:avLst/>
          </a:prstGeom>
          <a:solidFill>
            <a:srgbClr val="1C27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8229600" y="370332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NestJS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492240" y="4251960"/>
            <a:ext cx="777240" cy="320040"/>
          </a:xfrm>
          <a:prstGeom prst="rect">
            <a:avLst/>
          </a:prstGeom>
          <a:solidFill>
            <a:srgbClr val="1C27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6492240" y="4251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360920" y="4251960"/>
            <a:ext cx="777240" cy="320040"/>
          </a:xfrm>
          <a:prstGeom prst="rect">
            <a:avLst/>
          </a:prstGeom>
          <a:solidFill>
            <a:srgbClr val="1C27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1"/>
          <p:cNvSpPr/>
          <p:nvPr/>
        </p:nvSpPr>
        <p:spPr>
          <a:xfrm>
            <a:off x="7360920" y="4251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229600" y="4251960"/>
            <a:ext cx="777240" cy="320040"/>
          </a:xfrm>
          <a:prstGeom prst="rect">
            <a:avLst/>
          </a:prstGeom>
          <a:solidFill>
            <a:srgbClr val="1C2730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3"/>
          <p:cNvSpPr/>
          <p:nvPr/>
        </p:nvSpPr>
        <p:spPr>
          <a:xfrm>
            <a:off x="8229600" y="425196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22792"/>
            <a:ext cx="1481328" cy="256032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28017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PROJET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Notre </a:t>
            </a:r>
            <a:r>
              <a:rPr lang="en-US" sz="2800" b="1" dirty="0" err="1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projet</a:t>
            </a: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- RPG tactique tour par tour sur navigateur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35746"/>
            <a:ext cx="45720" cy="20116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2161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Inspiré de Dofus  ·  Accessible sans installation  ·  PvP compétitif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2743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2743200" cy="64008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48840" y="1572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Collecte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5760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joueur explore une carte monde et récolte des ressources naturelles : bois, minerai, plantes. Les nœuds de ressources respectent un système de respawn.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36392" y="1508760"/>
            <a:ext cx="2743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136392" y="1508760"/>
            <a:ext cx="27432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73552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056632" y="1572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⚒️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73552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Économie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73552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d'équipements, apprentissage de sorts, achat/vente en boutique. L'économie conditionne la puissance en combat.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44184" y="1508760"/>
            <a:ext cx="2743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6044184" y="1508760"/>
            <a:ext cx="2743200" cy="640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6181344" y="162763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964424" y="1572768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⚔️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181344" y="22402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Combat PvP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81344" y="2697480"/>
            <a:ext cx="2468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joueurs s'affrontent sur une grille isométrique en tour par tour. Chaque tour gère des Points d'Action (PA) et Points de Mouvement (PM).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4736592"/>
            <a:ext cx="8686800" cy="13716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274320" y="4736592"/>
            <a:ext cx="8595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: React 18 + Phaser 3 (Frontend)  ·  NestJS + Prisma + PostgreSQL (Backend)  ·  Redis (État combat)  ·  SSE (Notifications temps réel)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2/9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75042"/>
            <a:ext cx="2185416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75042"/>
            <a:ext cx="2185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PÉRIMÈTRE DU MARCHÉ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Périmètre du marché — Géo, Produit, Cible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Segmentation précise pour benchmarker efficacement : 3 dimensions de délimitation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2788920" cy="3246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508760"/>
            <a:ext cx="2788920" cy="54864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38328" y="1591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86968" y="15910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Géographique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8328" y="2148840"/>
            <a:ext cx="2560320" cy="320040"/>
          </a:xfrm>
          <a:prstGeom prst="rect">
            <a:avLst/>
          </a:prstGeom>
          <a:solidFill>
            <a:srgbClr val="4A9EF8">
              <a:alpha val="15000"/>
            </a:srgbClr>
          </a:solidFill>
          <a:ln w="12700">
            <a:solidFill>
              <a:srgbClr val="4A9EF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93192" y="2167128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 francophone en priorité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France, Belgique, Québec : cœur historique de Dofus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Europe anglophone &amp; Amérique du Nord en phase 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mondiale via navigateur (pas de contrainte géo technique)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" y="4087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Localisation EN/FR dès le MVP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6392" y="1508760"/>
            <a:ext cx="2788920" cy="3246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3136392" y="1508760"/>
            <a:ext cx="27889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246120" y="1591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🎮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794760" y="15910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Produit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2148840"/>
            <a:ext cx="2560320" cy="320040"/>
          </a:xfrm>
          <a:prstGeom prst="rect">
            <a:avLst/>
          </a:prstGeom>
          <a:solidFill>
            <a:srgbClr val="E94560">
              <a:alpha val="15000"/>
            </a:srgbClr>
          </a:solidFill>
          <a:ln w="12700">
            <a:solidFill>
              <a:srgbClr val="E9456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300984" y="2167128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 tactique au tour par tour, browser-based, free-to-play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de rôle tactique PvP accessible sans téléchargement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Boucle de jeu en 3 phases (collecte → craft → combat)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46120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Grille isométrique au tour par tour (PA/PM)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46120" y="4087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Monétisation cosmétique et premium (hors pay-to-win)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44184" y="1508760"/>
            <a:ext cx="2788920" cy="32461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6044184" y="1508760"/>
            <a:ext cx="278892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6153912" y="1591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702552" y="159105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Principale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53912" y="2148840"/>
            <a:ext cx="2560320" cy="320040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30"/>
          <p:cNvSpPr/>
          <p:nvPr/>
        </p:nvSpPr>
        <p:spPr>
          <a:xfrm>
            <a:off x="6208776" y="2167128"/>
            <a:ext cx="24505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Joueurs 15–35 ans, nostalgiques des JRPGs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53912" y="257860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Fans de Dofus / Wakfu cherchant une expérience plus légère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53912" y="308152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Hardcore gamers amateur de tactique au tour par tour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53912" y="358444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Joueurs occasionnels attirés par l'accessibilité navigateur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53912" y="4087368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Communautés Twitch/Discord autour du jeu compétitif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6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3/9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090672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PESTEL — MACRO-ENVIRONNEMENT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PESTEL  ·  Partie 1 : P · E · 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macro-environnementales impactant notre marché du jeu vidéo tactique browser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44752"/>
            <a:ext cx="868680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444752"/>
            <a:ext cx="64008" cy="1078992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47472" y="1536192"/>
            <a:ext cx="640080" cy="640080"/>
          </a:xfrm>
          <a:prstGeom prst="rect">
            <a:avLst/>
          </a:prstGeom>
          <a:solidFill>
            <a:srgbClr val="6E40C9"/>
          </a:solidFill>
          <a:ln w="12700">
            <a:solidFill>
              <a:srgbClr val="6E40C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15568" y="1536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E4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Politique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4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Subventions CNC &amp; BPI pour les jeux vidéo français (jusqu'à 500 K€/projet)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30168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4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Réglementation loot boxes : Belgique &amp; Pays-Bas ont banni, la France surveille → modèle cosmétique sécurisé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44768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E4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numériques européens favorisant les softwares RGPD-compliant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615184"/>
            <a:ext cx="868680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28600" y="2615184"/>
            <a:ext cx="64008" cy="10789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47472" y="2706624"/>
            <a:ext cx="640080" cy="64008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47472" y="2706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15568" y="27066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Économique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mondial jeu vidéo : 184 Md$ en 2024, croissance +8%/an (Newzoo 2024)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30168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F2P / browser gaming : +15%/an post-COVID — modèle adapté à la crise du pouvoir d'achat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44768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Microtransactions cosmétiques = 54 Md$ mondiaux — valide notre modèle de monétisation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785616"/>
            <a:ext cx="868680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28600" y="3785616"/>
            <a:ext cx="64008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3877056"/>
            <a:ext cx="640080" cy="640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115568" y="3877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Sociologique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42428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 milliards de gamers mondiaux en 2024 (+5% vs 2023) — marché de masse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30168" y="42428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Vague nostalgie JRPG/MMO des années 2000 : communautés Dofus toujours actives (Reddit, Discord)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44768" y="42428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 des Européens préfèrent jouer directement dans le navigateur (accessibilité, no-install)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4/9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3090672" cy="256032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PESTEL — MACRO-ENVIRONNEMENT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PESTEL  ·  Partie 2 : T · E · 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Forces macro-environnementales impactant notre marché du jeu vidéo tactique browser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44752"/>
            <a:ext cx="868680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444752"/>
            <a:ext cx="64008" cy="1078992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347472" y="1536192"/>
            <a:ext cx="640080" cy="640080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47472" y="1536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15568" y="15361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Technologique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5568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WebGL 2.0 + WebAssembly : jeux complexes natifs dans le navigateur, Phaser 3 mature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30168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 NestJS/React/Redis/SSE : temps réel sans WebSocket — latence &lt; 50ms adaptée au TBT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144768" y="190195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strict + NX Monorepo : contrat inter-équipes solide, scalable sans microservices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28600" y="2615184"/>
            <a:ext cx="868680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228600" y="2615184"/>
            <a:ext cx="64008" cy="107899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47472" y="2706624"/>
            <a:ext cx="640080" cy="64008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47472" y="27066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115568" y="270662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gaming = empreinte carbone réduite vs consoles ou AAA téléchargeables (aucun matériel dédié)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30168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mutualisés cloud : infrastructure partagée, efficience énergétique meilleure qu'un serveur dédié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144768" y="307238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Opportunité RSE : positionnement 'gaming responsable' attractif pour une cible Gen Z engagée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785616"/>
            <a:ext cx="8686800" cy="107899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28600" y="3785616"/>
            <a:ext cx="64008" cy="1078992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347472" y="3877056"/>
            <a:ext cx="640080" cy="640080"/>
          </a:xfrm>
          <a:prstGeom prst="rect">
            <a:avLst/>
          </a:prstGeom>
          <a:solidFill>
            <a:srgbClr val="FF8800"/>
          </a:solidFill>
          <a:ln w="12700">
            <a:solidFill>
              <a:srgbClr val="FF88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347472" y="3877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11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115568" y="38770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Légal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42428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RGPD : données joueurs européens, consentement cookies, droit à l'effacement — conforme dès le MVP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30168" y="42428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Propriété intellectuelle : inspiration Dofus mais gameplay distinct — pas de dépendance Ankama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144768" y="424281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 mineurs : classification PEGI 12 envisagée — restrictions achats in-app pour les -16 ans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5/9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883664" cy="25603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TAILLE DU MARCHÉ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Estimation de la taille du marché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Approche Top-Down — sources Newzoo 2024, Grand View Research 2024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8686800" cy="9875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481328"/>
            <a:ext cx="64008" cy="9875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92608" y="1481328"/>
            <a:ext cx="3931920" cy="987552"/>
          </a:xfrm>
          <a:prstGeom prst="rect">
            <a:avLst/>
          </a:prstGeom>
          <a:solidFill>
            <a:srgbClr val="8B949E">
              <a:alpha val="8000"/>
            </a:srgbClr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365760" y="1636776"/>
            <a:ext cx="749808" cy="67665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636776"/>
            <a:ext cx="74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157276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B949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Md$</a:t>
            </a:r>
            <a:endParaRPr lang="en-US" sz="3800" dirty="0"/>
          </a:p>
        </p:txBody>
      </p:sp>
      <p:sp>
        <p:nvSpPr>
          <p:cNvPr id="13" name="Shape 11"/>
          <p:cNvSpPr/>
          <p:nvPr/>
        </p:nvSpPr>
        <p:spPr>
          <a:xfrm>
            <a:off x="4251960" y="1572768"/>
            <a:ext cx="18288" cy="80467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407408" y="15727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07408" y="184708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mondial RPG en ligne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07408" y="212140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des jeux RPG/MMORPG en ligne (PC, browser, mobile) — Grand View Research 2024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156448" y="1664208"/>
            <a:ext cx="667512" cy="621792"/>
          </a:xfrm>
          <a:prstGeom prst="rect">
            <a:avLst/>
          </a:prstGeom>
          <a:solidFill>
            <a:srgbClr val="8B949E">
              <a:alpha val="85000"/>
            </a:srgbClr>
          </a:solidFill>
          <a:ln w="635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8156448" y="1664208"/>
            <a:ext cx="667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578608"/>
            <a:ext cx="8686800" cy="9875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28600" y="2578608"/>
            <a:ext cx="64008" cy="987552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292608" y="2578608"/>
            <a:ext cx="3931920" cy="987552"/>
          </a:xfrm>
          <a:prstGeom prst="rect">
            <a:avLst/>
          </a:prstGeom>
          <a:solidFill>
            <a:srgbClr val="4A9EF8">
              <a:alpha val="8000"/>
            </a:srgbClr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365760" y="2734056"/>
            <a:ext cx="749808" cy="676656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65760" y="2734056"/>
            <a:ext cx="74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26700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4A9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1,8 Md$</a:t>
            </a:r>
            <a:endParaRPr lang="en-US" sz="3800" dirty="0"/>
          </a:p>
        </p:txBody>
      </p:sp>
      <p:sp>
        <p:nvSpPr>
          <p:cNvPr id="25" name="Shape 23"/>
          <p:cNvSpPr/>
          <p:nvPr/>
        </p:nvSpPr>
        <p:spPr>
          <a:xfrm>
            <a:off x="4251960" y="2670048"/>
            <a:ext cx="18288" cy="80467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407408" y="26700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Addressable Market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07408" y="294436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RPG tactique browser — Europe &amp; Amérique du Nord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407408" y="321868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accessible : RPG tactique tour par tour sur navigateur — Newzoo 2024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156448" y="2761488"/>
            <a:ext cx="667512" cy="621792"/>
          </a:xfrm>
          <a:prstGeom prst="rect">
            <a:avLst/>
          </a:prstGeom>
          <a:solidFill>
            <a:srgbClr val="4A9EF8">
              <a:alpha val="85000"/>
            </a:srgbClr>
          </a:solidFill>
          <a:ln w="635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8156448" y="2761488"/>
            <a:ext cx="667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675888"/>
            <a:ext cx="8686800" cy="987552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28600" y="3675888"/>
            <a:ext cx="64008" cy="98755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292608" y="3675888"/>
            <a:ext cx="3931920" cy="987552"/>
          </a:xfrm>
          <a:prstGeom prst="rect">
            <a:avLst/>
          </a:prstGeom>
          <a:solidFill>
            <a:srgbClr val="3FB950">
              <a:alpha val="8000"/>
            </a:srgbClr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Shape 32"/>
          <p:cNvSpPr/>
          <p:nvPr/>
        </p:nvSpPr>
        <p:spPr>
          <a:xfrm>
            <a:off x="365760" y="3831336"/>
            <a:ext cx="749808" cy="676656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3"/>
          <p:cNvSpPr/>
          <p:nvPr/>
        </p:nvSpPr>
        <p:spPr>
          <a:xfrm>
            <a:off x="365760" y="3831336"/>
            <a:ext cx="74980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234440" y="376732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2–5 M$</a:t>
            </a:r>
            <a:endParaRPr lang="en-US" sz="3800" dirty="0"/>
          </a:p>
        </p:txBody>
      </p:sp>
      <p:sp>
        <p:nvSpPr>
          <p:cNvPr id="37" name="Shape 35"/>
          <p:cNvSpPr/>
          <p:nvPr/>
        </p:nvSpPr>
        <p:spPr>
          <a:xfrm>
            <a:off x="4251960" y="3767328"/>
            <a:ext cx="18288" cy="804672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4407408" y="376732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Obtainable Market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407408" y="4041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50K–120K joueurs actifs × ARPU ~40$/an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407408" y="4315968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réaliste à horizon 3 ans — communauté francophone + anglophone — hypothèse 0,03% du SAM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156448" y="3858768"/>
            <a:ext cx="667512" cy="621792"/>
          </a:xfrm>
          <a:prstGeom prst="rect">
            <a:avLst/>
          </a:prstGeom>
          <a:solidFill>
            <a:srgbClr val="3FB950">
              <a:alpha val="85000"/>
            </a:srgbClr>
          </a:solidFill>
          <a:ln w="63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8156448" y="3858768"/>
            <a:ext cx="6675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0,03%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28600" y="2487168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8600" y="3584448"/>
            <a:ext cx="813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</a:rPr>
              <a:t>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Shape 44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5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6/9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58775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CONCURRENTIELLE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concurrents directs identifiés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Marché RPG tactique / browser / PvP tour par tour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1417320" cy="347472"/>
          </a:xfrm>
          <a:prstGeom prst="rect">
            <a:avLst/>
          </a:prstGeom>
          <a:solidFill>
            <a:srgbClr val="E94560">
              <a:alpha val="9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Acteur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0" y="1481328"/>
            <a:ext cx="1097280" cy="347472"/>
          </a:xfrm>
          <a:prstGeom prst="rect">
            <a:avLst/>
          </a:prstGeom>
          <a:solidFill>
            <a:srgbClr val="E94560">
              <a:alpha val="9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1691640" y="14813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0" y="1481328"/>
            <a:ext cx="1097280" cy="347472"/>
          </a:xfrm>
          <a:prstGeom prst="rect">
            <a:avLst/>
          </a:prstGeom>
          <a:solidFill>
            <a:srgbClr val="E94560">
              <a:alpha val="9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2788920" y="148132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Plateforme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1481328"/>
            <a:ext cx="1005840" cy="347472"/>
          </a:xfrm>
          <a:prstGeom prst="rect">
            <a:avLst/>
          </a:prstGeom>
          <a:solidFill>
            <a:srgbClr val="E94560">
              <a:alpha val="9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886200" y="148132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Joueurs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46320" y="1481328"/>
            <a:ext cx="2011680" cy="347472"/>
          </a:xfrm>
          <a:prstGeom prst="rect">
            <a:avLst/>
          </a:prstGeom>
          <a:solidFill>
            <a:srgbClr val="E94560">
              <a:alpha val="9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92040" y="1481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forts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481328"/>
            <a:ext cx="2011680" cy="347472"/>
          </a:xfrm>
          <a:prstGeom prst="rect">
            <a:avLst/>
          </a:prstGeom>
          <a:solidFill>
            <a:srgbClr val="E94560">
              <a:alpha val="90000"/>
            </a:srgbClr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903720" y="148132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Failles / Opportunités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1874520"/>
            <a:ext cx="8686800" cy="53949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292608" y="1892808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Dofus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09928" y="18928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P2P + Boutique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807208" y="1892808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/ Browser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904488" y="1892808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M+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910328" y="189280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FR, profondeur de jeu, lore riche, 20 ans de communauté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922008" y="189280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Vieillissant, lourd à installer, barrière d'entrée élevée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2441448"/>
            <a:ext cx="8686800" cy="539496"/>
          </a:xfrm>
          <a:prstGeom prst="rect">
            <a:avLst/>
          </a:prstGeom>
          <a:solidFill>
            <a:srgbClr val="0F1419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92608" y="2459736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Wakfu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09928" y="2459736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F2P + Premium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807208" y="2459736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/ Browser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904488" y="2459736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M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10328" y="245973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Successeur Dofus, 3D tactique, écologie in-game innovante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22008" y="2459736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 instables, évolutions lentes, base joueurs déçue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008376"/>
            <a:ext cx="8686800" cy="53949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292608" y="3026664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Shakes &amp; Fidget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709928" y="3026664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F2P + Premium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807208" y="3026664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904488" y="3026664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M+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910328" y="302666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Accessibilité maximale, onboarding rapide, audience énorme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922008" y="302666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ultra casual, pas de PvP tactique réel, sans profondeur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28600" y="3575304"/>
            <a:ext cx="8686800" cy="539496"/>
          </a:xfrm>
          <a:prstGeom prst="rect">
            <a:avLst/>
          </a:prstGeom>
          <a:solidFill>
            <a:srgbClr val="0F1419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9"/>
          <p:cNvSpPr/>
          <p:nvPr/>
        </p:nvSpPr>
        <p:spPr>
          <a:xfrm>
            <a:off x="292608" y="3593592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Crystal Saga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709928" y="359359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F2P + Pay2Win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807208" y="3593592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904488" y="3593592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2–5 M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910328" y="35935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Monétisation agressive, marché asiatique dominant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22008" y="3593592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Pay-to-win = frustration, réputation toxique, UX dépassée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28600" y="4142232"/>
            <a:ext cx="8686800" cy="539496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292608" y="4160520"/>
            <a:ext cx="1307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Battlerite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709928" y="416052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F2P + Champions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807208" y="4160520"/>
            <a:ext cx="987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9E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(Steam)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904488" y="4160520"/>
            <a:ext cx="896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~300 K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910328" y="4160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Combat PvP pur, équilibrage rigoureux, eSport potentiel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22008" y="4160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 officielle 2023, pas browser, pas de boucle économique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Shape 53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6" name="Text 54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7/9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2587752" cy="2560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258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CONCURRENTIELLE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concurrents indirects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Acteurs répondant au même besoin mais sur un marché adjacent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481328"/>
            <a:ext cx="4251960" cy="3291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481328"/>
            <a:ext cx="4251960" cy="64008"/>
          </a:xfrm>
          <a:prstGeom prst="rect">
            <a:avLst/>
          </a:prstGeom>
          <a:solidFill>
            <a:srgbClr val="BC8CFF"/>
          </a:solidFill>
          <a:ln w="12700">
            <a:solidFill>
              <a:srgbClr val="BC8CF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0040" y="15727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840480" y="153619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🃏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0040" y="217627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C8C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Hearthstone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20040" y="25786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Blizzard Entertainment  ·  F2P + Extensions payantes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907792"/>
            <a:ext cx="4069080" cy="274320"/>
          </a:xfrm>
          <a:prstGeom prst="rect">
            <a:avLst/>
          </a:prstGeom>
          <a:solidFill>
            <a:srgbClr val="BC8CFF">
              <a:alpha val="15000"/>
            </a:srgbClr>
          </a:solidFill>
          <a:ln w="12700">
            <a:solidFill>
              <a:srgbClr val="BC8C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65760" y="29260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concurrent indirect ?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2369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besoin : duel stratégique PvP au tour par tour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6027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Cible similaire : 15–35 ans, compétiteurs, stratèges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9684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jeu concurrent : ~45 min/session vs notre jeu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3342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M+ joueurs — signe que le besoin est massif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1481328"/>
            <a:ext cx="4251960" cy="3291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4663440" y="1481328"/>
            <a:ext cx="42519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54880" y="15727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75320" y="153619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754880" y="217627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League of Legends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754880" y="257860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Riot Games  ·  F2P + Champions payants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4069080" cy="274320"/>
          </a:xfrm>
          <a:prstGeom prst="rect">
            <a:avLst/>
          </a:prstGeom>
          <a:solidFill>
            <a:srgbClr val="F0A500">
              <a:alpha val="15000"/>
            </a:srgbClr>
          </a:solidFill>
          <a:ln w="12700">
            <a:solidFill>
              <a:srgbClr val="F0A500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00600" y="292608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concurrent indirect ?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00600" y="32369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Même cible démographique : gamers compétitifs 15–30 ans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60273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temps identique : le joueur n'a pas 2 jeux PvP actifs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96849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 M+ comptes — référence F2P compétitif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433425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  </a:t>
            </a: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Différence clé : notre jeu = asynchrone, moins chronophage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8/9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64592"/>
            <a:ext cx="1078992" cy="256032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SYNTHÈSE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Opportunités de marché identifiées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572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Atelier 1 — positionnement différenciant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72768"/>
            <a:ext cx="868680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28600" y="1572768"/>
            <a:ext cx="64008" cy="914400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Blanche Identifiée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8928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n'existe pas de jeu RPG tactique au tour par tour, free-to-play, accessible sur navigateur sans installation, avec une vraie profondeur économique (craft, économie) combinée à du PvP compétitif ciblant la communauté francophone + internationale. Dofus vieillit, ses successeurs déçoivent, les browser games actuels manquent de profondeur.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8600" y="2633472"/>
            <a:ext cx="4160520" cy="104241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228600" y="2633472"/>
            <a:ext cx="4160520" cy="54864"/>
          </a:xfrm>
          <a:prstGeom prst="rect">
            <a:avLst/>
          </a:prstGeom>
          <a:solidFill>
            <a:srgbClr val="4A9EF8"/>
          </a:solidFill>
          <a:ln w="12700">
            <a:solidFill>
              <a:srgbClr val="4A9E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38328" y="27066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9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2724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Accessibilité maximale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" y="31089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concurrent direct ne combine profondeur tactique ET zéro installation. Navigateur = adoption immédiate, friction minimale.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90288" y="2633472"/>
            <a:ext cx="4160520" cy="104241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590288" y="2633472"/>
            <a:ext cx="416052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00016" y="27066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138928" y="2724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Nostalgie + Modernité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0016" y="31089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Répondre aux attentes des joueurs Dofus déçus, avec une stack moderne (React/Phaser 3) et une UX 2024.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3776472"/>
            <a:ext cx="4160520" cy="104241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28600" y="3776472"/>
            <a:ext cx="4160520" cy="54864"/>
          </a:xfrm>
          <a:prstGeom prst="rect">
            <a:avLst/>
          </a:prstGeom>
          <a:solidFill>
            <a:srgbClr val="3FB950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338328" y="38496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FB9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3867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Modèle F2P éthique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" y="42519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Absence de pay-to-win dans le segment. Monétisation cosmétique = différenciation face à Crystal Saga et ses pratiques toxiques.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90288" y="3776472"/>
            <a:ext cx="4160520" cy="1042416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590288" y="3776472"/>
            <a:ext cx="41605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00016" y="384962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138928" y="386791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ED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Marché RPG en croissance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0016" y="4251960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Segment RPG tactique +15%/an. SAM de 1,8 Md$ avec un SOM réaliste de 2–5 M$ à horizon 3 ans.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0" y="4965192"/>
            <a:ext cx="9144000" cy="17830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0" y="4965192"/>
            <a:ext cx="54864" cy="17830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137160" y="4983480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Jeu Dofus-like PvP Browser  •  Atelier 1 — Analyse de Marché  •  SupDeVinci Bordeaux B2 2025–2026  •  9/9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1479</Words>
  <Application>Microsoft Office PowerPoint</Application>
  <PresentationFormat>Affichage à l'écran (16:9)</PresentationFormat>
  <Paragraphs>211</Paragraphs>
  <Slides>9</Slides>
  <Notes>9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Arial Black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Atelier 1 - Analyse de Marché - Dofus-like PvP Browser</dc:title>
  <dc:subject>PptxGenJS Presentation</dc:subject>
  <dc:creator>Équipe Dofus-like</dc:creator>
  <cp:lastModifiedBy>Florian Escande</cp:lastModifiedBy>
  <cp:revision>2</cp:revision>
  <dcterms:created xsi:type="dcterms:W3CDTF">2026-03-18T11:45:14Z</dcterms:created>
  <dcterms:modified xsi:type="dcterms:W3CDTF">2026-03-18T12:45:24Z</dcterms:modified>
</cp:coreProperties>
</file>