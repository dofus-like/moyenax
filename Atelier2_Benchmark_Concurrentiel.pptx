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457200" y="4114800"/>
            <a:ext cx="109728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480000">
            <a:off x="-457200" y="4663440"/>
            <a:ext cx="109728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71600"/>
            <a:ext cx="73152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371600"/>
            <a:ext cx="73152" cy="3840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691640"/>
            <a:ext cx="1463040" cy="2926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6916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0" y="1737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SupDeVinci — B2 Benchmark &amp; Modèle Économique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1945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Concurrentiel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128016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PvP navigateur — style Dofus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80160" y="4160520"/>
            <a:ext cx="1737360" cy="256032"/>
          </a:xfrm>
          <a:prstGeom prst="rect">
            <a:avLst/>
          </a:prstGeom>
          <a:solidFill>
            <a:srgbClr val="1C2330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4160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9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6+ critères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4160520"/>
            <a:ext cx="1737360" cy="256032"/>
          </a:xfrm>
          <a:prstGeom prst="rect">
            <a:avLst/>
          </a:prstGeom>
          <a:solidFill>
            <a:srgbClr val="1C233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4160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Forces de Porter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20640" y="4160520"/>
            <a:ext cx="1737360" cy="256032"/>
          </a:xfrm>
          <a:prstGeom prst="rect">
            <a:avLst/>
          </a:prstGeom>
          <a:solidFill>
            <a:srgbClr val="1C233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4160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Failles &amp; Opportunités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040880" y="4160520"/>
            <a:ext cx="1737360" cy="256032"/>
          </a:xfrm>
          <a:prstGeom prst="rect">
            <a:avLst/>
          </a:prstGeom>
          <a:solidFill>
            <a:srgbClr val="1C23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4160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Recommandations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2 — Benchmark Concurrentiel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Concurrentielle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critères clés · 5 concurrents + notre offre · scores de 1 à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2011680" cy="256032"/>
          </a:xfrm>
          <a:prstGeom prst="rect">
            <a:avLst>
              <a:gd name="adj" fmla="val 14286"/>
            </a:avLst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COMPARATIVE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1874520"/>
            <a:ext cx="1124712" cy="457200"/>
          </a:xfrm>
          <a:prstGeom prst="rect">
            <a:avLst/>
          </a:prstGeom>
          <a:solidFill>
            <a:srgbClr val="1C2330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874520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4408" y="1874520"/>
            <a:ext cx="1124712" cy="457200"/>
          </a:xfrm>
          <a:prstGeom prst="rect">
            <a:avLst/>
          </a:prstGeom>
          <a:solidFill>
            <a:srgbClr val="1C233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874520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Wakfu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25696" y="1874520"/>
            <a:ext cx="1124712" cy="457200"/>
          </a:xfrm>
          <a:prstGeom prst="rect">
            <a:avLst/>
          </a:prstGeom>
          <a:solidFill>
            <a:srgbClr val="1C2330"/>
          </a:solidFill>
          <a:ln w="19050">
            <a:solidFill>
              <a:srgbClr val="FF8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1874520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86984" y="1874520"/>
            <a:ext cx="1124712" cy="457200"/>
          </a:xfrm>
          <a:prstGeom prst="rect">
            <a:avLst/>
          </a:prstGeom>
          <a:solidFill>
            <a:srgbClr val="1C2330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86984" y="1874520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Saga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48272" y="1874520"/>
            <a:ext cx="1124712" cy="457200"/>
          </a:xfrm>
          <a:prstGeom prst="rect">
            <a:avLst/>
          </a:prstGeom>
          <a:solidFill>
            <a:srgbClr val="1C2330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1874520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Battlerite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09560" y="1874520"/>
            <a:ext cx="1124712" cy="457200"/>
          </a:xfrm>
          <a:prstGeom prst="rect">
            <a:avLst/>
          </a:prstGeom>
          <a:solidFill>
            <a:srgbClr val="1C2330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1874520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Offre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331720"/>
            <a:ext cx="1883664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" y="2331720"/>
            <a:ext cx="18288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 PvP compétitif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03120" y="2331720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00884" y="2441448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0884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64408" y="2331720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62172" y="2441448"/>
            <a:ext cx="329184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2172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25696" y="2331720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3460" y="2441448"/>
            <a:ext cx="329184" cy="329184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3460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86984" y="2331720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4748" y="2441448"/>
            <a:ext cx="329184" cy="329184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474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48272" y="2331720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46036" y="2441448"/>
            <a:ext cx="329184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46036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09560" y="2331720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07324" y="2441448"/>
            <a:ext cx="329184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07324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82880" y="2907792"/>
            <a:ext cx="1883664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744" y="2907792"/>
            <a:ext cx="18288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 Accessibilité web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103120" y="2907792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00884" y="3017520"/>
            <a:ext cx="329184" cy="329184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00884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64408" y="2907792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62172" y="3017520"/>
            <a:ext cx="329184" cy="329184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62172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425696" y="2907792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23460" y="3017520"/>
            <a:ext cx="329184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3460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586984" y="2907792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84748" y="3017520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84748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748272" y="2907792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46036" y="3017520"/>
            <a:ext cx="329184" cy="3291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46036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909560" y="2907792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07324" y="3017520"/>
            <a:ext cx="329184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07324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82880" y="3483864"/>
            <a:ext cx="1883664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7744" y="3483864"/>
            <a:ext cx="18288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 Modèle F2P éthique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103120" y="3483864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00884" y="3593592"/>
            <a:ext cx="329184" cy="329184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00884" y="35935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264408" y="3483864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62172" y="3593592"/>
            <a:ext cx="329184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62172" y="35935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425696" y="3483864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23460" y="3593592"/>
            <a:ext cx="329184" cy="3291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23460" y="35935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586984" y="3483864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84748" y="3593592"/>
            <a:ext cx="329184" cy="3291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84748" y="35935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748272" y="3483864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46036" y="3593592"/>
            <a:ext cx="329184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46036" y="35935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909560" y="3483864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307324" y="3593592"/>
            <a:ext cx="329184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07324" y="35935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82880" y="4059936"/>
            <a:ext cx="1883664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7744" y="4059936"/>
            <a:ext cx="18288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 Profondeur tactique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103120" y="4059936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500884" y="4169664"/>
            <a:ext cx="329184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500884" y="4169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264408" y="4059936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662172" y="4169664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62172" y="4169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4425696" y="4059936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23460" y="4169664"/>
            <a:ext cx="329184" cy="329184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23460" y="4169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5586984" y="4059936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984748" y="4169664"/>
            <a:ext cx="329184" cy="329184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84748" y="4169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748272" y="4059936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46036" y="4169664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46036" y="4169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7909560" y="4059936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307324" y="4169664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07324" y="4169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182880" y="4636008"/>
            <a:ext cx="1883664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37744" y="4636008"/>
            <a:ext cx="18288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 Communauté &amp; social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103120" y="4636008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00884" y="4745736"/>
            <a:ext cx="329184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500884" y="4745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3264408" y="4636008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62172" y="4745736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662172" y="4745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4425696" y="4636008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823460" y="4745736"/>
            <a:ext cx="329184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823460" y="4745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5586984" y="4636008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984748" y="4745736"/>
            <a:ext cx="329184" cy="329184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984748" y="4745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6748272" y="4636008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146036" y="4745736"/>
            <a:ext cx="329184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46036" y="4745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7909560" y="4636008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307324" y="4745736"/>
            <a:ext cx="329184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307324" y="4745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182880" y="5212080"/>
            <a:ext cx="1883664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37744" y="5212080"/>
            <a:ext cx="18288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 Onboarding &amp; UX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2103120" y="5212080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500884" y="5321808"/>
            <a:ext cx="329184" cy="329184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500884" y="5321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3264408" y="5212080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662172" y="5321808"/>
            <a:ext cx="329184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662172" y="5321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4425696" y="5212080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23460" y="5321808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823460" y="5321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5586984" y="5212080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984748" y="5321808"/>
            <a:ext cx="329184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984748" y="5321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6748272" y="5212080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146036" y="5321808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146036" y="5321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7909560" y="5212080"/>
            <a:ext cx="1124712" cy="539496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307324" y="5321808"/>
            <a:ext cx="329184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307324" y="5321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182880" y="5788152"/>
            <a:ext cx="1883664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37744" y="5788152"/>
            <a:ext cx="18288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 Mises à jour / contenu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2103120" y="5788152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500884" y="5897880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500884" y="5897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3264408" y="5788152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62172" y="5897880"/>
            <a:ext cx="329184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662172" y="5897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4425696" y="5788152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823460" y="5897880"/>
            <a:ext cx="329184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823460" y="5897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1" name="Shape 149"/>
          <p:cNvSpPr/>
          <p:nvPr/>
        </p:nvSpPr>
        <p:spPr>
          <a:xfrm>
            <a:off x="5586984" y="5788152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984748" y="5897880"/>
            <a:ext cx="329184" cy="329184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984748" y="5897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4" name="Shape 152"/>
          <p:cNvSpPr/>
          <p:nvPr/>
        </p:nvSpPr>
        <p:spPr>
          <a:xfrm>
            <a:off x="6748272" y="5788152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46036" y="5897880"/>
            <a:ext cx="329184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146036" y="5897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7909560" y="5788152"/>
            <a:ext cx="1124712" cy="53949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307324" y="5897880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8307324" y="5897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0" name="Text 158"/>
          <p:cNvSpPr/>
          <p:nvPr/>
        </p:nvSpPr>
        <p:spPr>
          <a:xfrm>
            <a:off x="182880" y="644652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 :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1005840" y="6492240"/>
            <a:ext cx="201168" cy="1645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252728" y="64648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= Excellent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2560320" y="6492240"/>
            <a:ext cx="201168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807208" y="64648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= Bon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4114800" y="6492240"/>
            <a:ext cx="201168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361688" y="64648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= Moyen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5669280" y="6492240"/>
            <a:ext cx="201168" cy="164592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916168" y="64648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Faible</a:t>
            </a:r>
            <a:endParaRPr lang="en-US" sz="750" dirty="0"/>
          </a:p>
        </p:txBody>
      </p:sp>
      <p:sp>
        <p:nvSpPr>
          <p:cNvPr id="169" name="Shape 167"/>
          <p:cNvSpPr/>
          <p:nvPr/>
        </p:nvSpPr>
        <p:spPr>
          <a:xfrm>
            <a:off x="7223760" y="6492240"/>
            <a:ext cx="201168" cy="1645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470648" y="64648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Très faible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274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2 — Benchmark Concurrentiel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79552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Forces de Porter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Intensité concurrentielle dans le secteur du jeu PvP navigateur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2011680" cy="256032"/>
          </a:xfrm>
          <a:prstGeom prst="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SECTORIELLE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828800"/>
            <a:ext cx="1719072" cy="4434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828800"/>
            <a:ext cx="1719072" cy="73152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965960"/>
            <a:ext cx="347472" cy="347472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965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" y="2395728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1353312" cy="292608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5468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2608" y="3566160"/>
            <a:ext cx="1499616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" y="3703320"/>
            <a:ext cx="91440" cy="91440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Barrières techniques modérées (web facile)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" y="4453128"/>
            <a:ext cx="91440" cy="91440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07408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IP = avantage majeur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0896" y="5202936"/>
            <a:ext cx="91440" cy="91440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157216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studios sur itch.io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47672" y="1828800"/>
            <a:ext cx="1719072" cy="4434840"/>
          </a:xfrm>
          <a:prstGeom prst="rect">
            <a:avLst/>
          </a:prstGeom>
          <a:solidFill>
            <a:srgbClr val="161B22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7672" y="1828800"/>
            <a:ext cx="1719072" cy="73152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20824" y="1965960"/>
            <a:ext cx="347472" cy="347472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20824" y="1965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02536" y="2395728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30552" y="3154680"/>
            <a:ext cx="1353312" cy="292608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30552" y="315468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057400" y="3566160"/>
            <a:ext cx="1499616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75688" y="3703320"/>
            <a:ext cx="91440" cy="91440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21992" y="3657600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open-source (Phaser, NestJS)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75688" y="4453128"/>
            <a:ext cx="91440" cy="91440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21992" y="4407408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cloud compétitifs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75688" y="5202936"/>
            <a:ext cx="91440" cy="91440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21992" y="5157216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Graphismes externalisables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12464" y="1828800"/>
            <a:ext cx="1719072" cy="4434840"/>
          </a:xfrm>
          <a:prstGeom prst="rect">
            <a:avLst/>
          </a:prstGeom>
          <a:solidFill>
            <a:srgbClr val="161B2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12464" y="1828800"/>
            <a:ext cx="1719072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85616" y="1965960"/>
            <a:ext cx="347472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85616" y="1965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767328" y="2395728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Rivalité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895344" y="3154680"/>
            <a:ext cx="1353312" cy="2926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95344" y="315468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22192" y="3566160"/>
            <a:ext cx="1499616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0" y="3703320"/>
            <a:ext cx="9144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86784" y="3657600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Dofus domine avec 10M+ joueurs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840480" y="4453128"/>
            <a:ext cx="9144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86784" y="4407408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Niches bien occupées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40480" y="5202936"/>
            <a:ext cx="9144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86784" y="5157216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Guerre de la nostalgie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77256" y="1828800"/>
            <a:ext cx="1719072" cy="4434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77256" y="1828800"/>
            <a:ext cx="1719072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50408" y="1965960"/>
            <a:ext cx="347472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50408" y="1965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532120" y="2395728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660136" y="3154680"/>
            <a:ext cx="1353312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0136" y="315468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586984" y="3566160"/>
            <a:ext cx="1499616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05272" y="3703320"/>
            <a:ext cx="9144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51576" y="3657600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 de F2P éthique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605272" y="4453128"/>
            <a:ext cx="9144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51576" y="4407408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très vocale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605272" y="5202936"/>
            <a:ext cx="9144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51576" y="5157216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Fidélité difficile à construire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242048" y="1828800"/>
            <a:ext cx="1719072" cy="44348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42048" y="1828800"/>
            <a:ext cx="1719072" cy="7315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0" y="1965960"/>
            <a:ext cx="347472" cy="34747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0" y="1965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7296912" y="2395728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424928" y="3154680"/>
            <a:ext cx="1353312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24928" y="315468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351776" y="3566160"/>
            <a:ext cx="1499616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70064" y="3703320"/>
            <a:ext cx="91440" cy="914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16368" y="3657600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royale / FPS omniprésents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370064" y="4453128"/>
            <a:ext cx="91440" cy="914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16368" y="4407408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games tactiques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370064" y="5202936"/>
            <a:ext cx="91440" cy="914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16368" y="5157216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compétitif dominant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74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2 — Benchmark Concurrentiel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9552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Failles &amp; Opportunités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concurrent : la faille identifiée → l'opportunité pour notre offre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2011680" cy="256032"/>
          </a:xfrm>
          <a:prstGeom prst="rect">
            <a:avLst>
              <a:gd name="adj" fmla="val 14286"/>
            </a:avLst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ACTEUR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847088"/>
            <a:ext cx="1152144" cy="347472"/>
          </a:xfrm>
          <a:prstGeom prst="rect">
            <a:avLst/>
          </a:prstGeom>
          <a:solidFill>
            <a:srgbClr val="1C2330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8470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1847088"/>
            <a:ext cx="3072384" cy="347472"/>
          </a:xfrm>
          <a:prstGeom prst="rect">
            <a:avLst/>
          </a:prstGeom>
          <a:solidFill>
            <a:srgbClr val="1C233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8470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 identifiée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1847088"/>
            <a:ext cx="283464" cy="347472"/>
          </a:xfrm>
          <a:prstGeom prst="rect">
            <a:avLst/>
          </a:prstGeom>
          <a:solidFill>
            <a:srgbClr val="1C2330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847088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1847088"/>
            <a:ext cx="4123944" cy="347472"/>
          </a:xfrm>
          <a:prstGeom prst="rect">
            <a:avLst/>
          </a:prstGeom>
          <a:solidFill>
            <a:srgbClr val="1C23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184708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 stratégique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231136"/>
            <a:ext cx="1152144" cy="758952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31136"/>
            <a:ext cx="10515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2231136"/>
            <a:ext cx="3072384" cy="7589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231136"/>
            <a:ext cx="54864" cy="7589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81328" y="2286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perçu comme prédateur (abonnement + kamas payants)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0" y="2231136"/>
            <a:ext cx="283464" cy="7589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231136"/>
            <a:ext cx="28346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800600" y="2231136"/>
            <a:ext cx="4123944" cy="7589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2231136"/>
            <a:ext cx="54864" cy="7589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22860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positionner comme alternative F2P éthique, sans pay-to-win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3035808"/>
            <a:ext cx="1152144" cy="758952"/>
          </a:xfrm>
          <a:prstGeom prst="rect">
            <a:avLst/>
          </a:prstGeom>
          <a:solidFill>
            <a:srgbClr val="1C233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035808"/>
            <a:ext cx="10515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Wakfu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0" y="3035808"/>
            <a:ext cx="3072384" cy="758952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3035808"/>
            <a:ext cx="54864" cy="7589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81328" y="309067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faible, contenu PvP peu développé et inconstant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80560" y="3035808"/>
            <a:ext cx="283464" cy="758952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3035808"/>
            <a:ext cx="28346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800600" y="3035808"/>
            <a:ext cx="4123944" cy="758952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035808"/>
            <a:ext cx="54864" cy="7589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309067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le PvP au centre dès le départ, avec saisons et classements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" y="3840480"/>
            <a:ext cx="1152144" cy="758952"/>
          </a:xfrm>
          <a:prstGeom prst="rect">
            <a:avLst/>
          </a:prstGeom>
          <a:solidFill>
            <a:srgbClr val="161B22"/>
          </a:solidFill>
          <a:ln w="19050">
            <a:solidFill>
              <a:srgbClr val="FF8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3840480"/>
            <a:ext cx="10515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 &amp; Fidget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71600" y="3840480"/>
            <a:ext cx="3072384" cy="7589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3840480"/>
            <a:ext cx="54864" cy="7589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81328" y="389534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idle/passif, aucune profondeur tactique réelle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80560" y="3840480"/>
            <a:ext cx="283464" cy="7589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3840480"/>
            <a:ext cx="28346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800600" y="3840480"/>
            <a:ext cx="4123944" cy="7589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3840480"/>
            <a:ext cx="54864" cy="7589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0328" y="3895344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des combats en temps réel avec stratégie par position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" y="4645152"/>
            <a:ext cx="1152144" cy="758952"/>
          </a:xfrm>
          <a:prstGeom prst="rect">
            <a:avLst/>
          </a:prstGeom>
          <a:solidFill>
            <a:srgbClr val="1C2330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4645152"/>
            <a:ext cx="10515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Saga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371600" y="4645152"/>
            <a:ext cx="3072384" cy="758952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71600" y="4645152"/>
            <a:ext cx="54864" cy="7589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81328" y="470001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Pay-to-win agressif, rétention par manipulation plutôt que plaisir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480560" y="4645152"/>
            <a:ext cx="283464" cy="758952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0" y="4645152"/>
            <a:ext cx="28346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800600" y="4645152"/>
            <a:ext cx="4123944" cy="758952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00600" y="4645152"/>
            <a:ext cx="54864" cy="7589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0328" y="4700016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entièrement skill-based, pas de mur payant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82880" y="5449824"/>
            <a:ext cx="1152144" cy="758952"/>
          </a:xfrm>
          <a:prstGeom prst="rect">
            <a:avLst/>
          </a:prstGeom>
          <a:solidFill>
            <a:srgbClr val="161B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5449824"/>
            <a:ext cx="10515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Battlerite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371600" y="5449824"/>
            <a:ext cx="3072384" cy="7589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71600" y="5449824"/>
            <a:ext cx="54864" cy="7589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81328" y="55046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lourd (800MB+), inaccessible sans installation, arrêt du dev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480560" y="5449824"/>
            <a:ext cx="283464" cy="7589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5449824"/>
            <a:ext cx="28346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4800600" y="5449824"/>
            <a:ext cx="4123944" cy="7589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5449824"/>
            <a:ext cx="54864" cy="7589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10328" y="550468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immédiate via navigateur, zéro friction à l'entrée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4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2 — Benchmark Concurrentiel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9552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Recommandations Stratégiques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axes prioritaires face au paysage concurrentiel identifié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2011680" cy="256032"/>
          </a:xfrm>
          <a:prstGeom prst="rect">
            <a:avLst>
              <a:gd name="adj" fmla="val 1428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645920"/>
            <a:ext cx="2834640" cy="46634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645920"/>
            <a:ext cx="283464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773936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92608" y="2395728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la communauté Dofus déçue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" y="3063240"/>
            <a:ext cx="2615184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3145536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338328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Dofus perd des joueurs sur les serveurs Rétro, en raison de la monétisation abusive et du manque de PvP compétitif. Ces joueurs cherchent activement une alternative.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2608" y="4389120"/>
            <a:ext cx="2615184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446227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0896" y="4773168"/>
            <a:ext cx="73152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718304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ciblé sur la nostalgie Dofus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0896" y="5093208"/>
            <a:ext cx="73152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5038344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créateur sur la comparaison de gameplay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0896" y="5413248"/>
            <a:ext cx="73152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5358384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invitations via streamers Dofus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5897880"/>
            <a:ext cx="2286000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897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FORT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77540" y="1645920"/>
            <a:ext cx="2834640" cy="4663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7540" y="1645920"/>
            <a:ext cx="2834640" cy="914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7268" y="1773936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287268" y="2395728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éthique comme USP absolue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87268" y="3063240"/>
            <a:ext cx="2615184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87268" y="3145536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87268" y="338328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des concurrents ont un modèle perçu comme P2W ou contraignant. Une expérience entièrement gratuite et juste est un vide de marché réel.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87268" y="4389120"/>
            <a:ext cx="2615184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7268" y="446227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?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05556" y="4773168"/>
            <a:ext cx="73152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3572" y="4718304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Cosmétiques uniquement (jamais de stats payantes)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05556" y="5093208"/>
            <a:ext cx="73152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33572" y="5038344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de saison cosmétique, transparence totale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05556" y="5413248"/>
            <a:ext cx="73152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33572" y="5358384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Manifeste F2P éthique signé publiquement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51860" y="5897880"/>
            <a:ext cx="2286000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1860" y="5897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DIFFÉRENCIATEUR CLÉ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1645920"/>
            <a:ext cx="2834640" cy="46634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1645920"/>
            <a:ext cx="28346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81928" y="1773936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6281928" y="2395728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le réseau avant le produit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81928" y="3063240"/>
            <a:ext cx="2615184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81928" y="3145536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81928" y="338328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jeu PvP, la rétention dépend de la masse critique de joueurs. Un jeu parfait vide n'a aucune valeur. La communauté EST le produit.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81928" y="4389120"/>
            <a:ext cx="2615184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81928" y="446227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?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0216" y="4773168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28232" y="4718304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Playtests publics dès le MVP (300 joueurs)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00216" y="5093208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28232" y="5038344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Rétroaction active des early adopters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300216" y="5413248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28232" y="5358384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ambassadeurs avant le lancement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46520" y="5897880"/>
            <a:ext cx="22860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46520" y="5897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ABSOLUE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74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2 — Benchmark Concurrentiel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9552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2026-03-18T15:36:02Z</dcterms:created>
  <dcterms:modified xsi:type="dcterms:W3CDTF">2026-03-18T15:36:02Z</dcterms:modified>
</cp:coreProperties>
</file>